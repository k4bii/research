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4"/>
  </p:sldMasterIdLst>
  <p:notesMasterIdLst>
    <p:notesMasterId r:id="rId6"/>
  </p:notesMasterIdLst>
  <p:sldIdLst>
    <p:sldId id="294" r:id="rId5"/>
  </p:sldIdLst>
  <p:sldSz cx="36576000" cy="29260800"/>
  <p:notesSz cx="6858000" cy="9144000"/>
  <p:defaultTextStyle>
    <a:defPPr>
      <a:defRPr lang="en-US"/>
    </a:defPPr>
    <a:lvl1pPr marL="0" algn="l" defTabSz="3159767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1pPr>
    <a:lvl2pPr marL="1579884" algn="l" defTabSz="3159767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2pPr>
    <a:lvl3pPr marL="3159767" algn="l" defTabSz="3159767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3pPr>
    <a:lvl4pPr marL="4739651" algn="l" defTabSz="3159767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4pPr>
    <a:lvl5pPr marL="6319534" algn="l" defTabSz="3159767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5pPr>
    <a:lvl6pPr marL="7899418" algn="l" defTabSz="3159767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6pPr>
    <a:lvl7pPr marL="9479302" algn="l" defTabSz="3159767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7pPr>
    <a:lvl8pPr marL="11059185" algn="l" defTabSz="3159767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8pPr>
    <a:lvl9pPr marL="12639068" algn="l" defTabSz="3159767" rtl="0" eaLnBrk="1" latinLnBrk="0" hangingPunct="1">
      <a:defRPr sz="622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Mackey" initials="MM" lastIdx="1" clrIdx="0">
    <p:extLst>
      <p:ext uri="{19B8F6BF-5375-455C-9EA6-DF929625EA0E}">
        <p15:presenceInfo xmlns:p15="http://schemas.microsoft.com/office/powerpoint/2012/main" userId="S::C10MJM1@mail.niu.edu::476bd0d3-7c69-4de7-9a5f-7b7cc5c4396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FCE7"/>
    <a:srgbClr val="0A7933"/>
    <a:srgbClr val="C8102E"/>
    <a:srgbClr val="C92235"/>
    <a:srgbClr val="C00000"/>
    <a:srgbClr val="AB1500"/>
    <a:srgbClr val="BF5700"/>
    <a:srgbClr val="017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30963-FA56-250D-9D6D-588234683A6C}" v="1981" dt="2026-04-16T15:47:13.389"/>
    <p1510:client id="{82724DCA-B102-4AB7-BBED-331374A60FE0}" v="407" dt="2026-04-16T18:51:29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6BBDD9-1938-BF48-B8EB-23F736B24C3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0188" y="1143000"/>
            <a:ext cx="3857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FB3E6-5B1C-DA4C-AC46-D726F69DE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33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CBC3-D458-3978-B146-2F82BFF0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EB6A2-6BB3-5A74-1428-5FA5C82B3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7DE25-5627-2E8D-521E-1343CE41D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95990-6924-62A0-F7C6-C04A64A84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B3E6-5B1C-DA4C-AC46-D726F69DE6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86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256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000">
              <a:srgbClr val="D1DCF0"/>
            </a:gs>
            <a:gs pos="0">
              <a:schemeClr val="accent1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6">
                <a:lumMod val="60000"/>
                <a:lumOff val="40000"/>
              </a:schemeClr>
            </a:gs>
            <a:gs pos="91500">
              <a:schemeClr val="accent6">
                <a:lumMod val="75000"/>
              </a:schemeClr>
            </a:gs>
            <a:gs pos="100000">
              <a:schemeClr val="accent6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6DCF83F-D902-BA25-D910-715BE82263E8}"/>
              </a:ext>
            </a:extLst>
          </p:cNvPr>
          <p:cNvSpPr/>
          <p:nvPr userDrawn="1"/>
        </p:nvSpPr>
        <p:spPr>
          <a:xfrm>
            <a:off x="0" y="6729046"/>
            <a:ext cx="36576000" cy="2253175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C8102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76"/>
          </a:p>
        </p:txBody>
      </p:sp>
      <p:pic>
        <p:nvPicPr>
          <p:cNvPr id="2" name="Picture 1" descr="Shape  Description automatically generated with medium confidence">
            <a:extLst>
              <a:ext uri="{FF2B5EF4-FFF2-40B4-BE49-F238E27FC236}">
                <a16:creationId xmlns:a16="http://schemas.microsoft.com/office/drawing/2014/main" id="{442E36F7-A968-6B75-0672-0AE0EF3837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35575" y="1677076"/>
            <a:ext cx="44704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58" userDrawn="1">
          <p15:clr>
            <a:srgbClr val="F26B43"/>
          </p15:clr>
        </p15:guide>
        <p15:guide id="2" pos="618" userDrawn="1">
          <p15:clr>
            <a:srgbClr val="F26B43"/>
          </p15:clr>
        </p15:guide>
        <p15:guide id="3" pos="927" userDrawn="1">
          <p15:clr>
            <a:srgbClr val="F26B43"/>
          </p15:clr>
        </p15:guide>
        <p15:guide id="4" pos="5367" userDrawn="1">
          <p15:clr>
            <a:srgbClr val="F26B43"/>
          </p15:clr>
        </p15:guide>
        <p15:guide id="5" pos="6189" userDrawn="1">
          <p15:clr>
            <a:srgbClr val="F26B43"/>
          </p15:clr>
        </p15:guide>
        <p15:guide id="6" pos="6498" userDrawn="1">
          <p15:clr>
            <a:srgbClr val="F26B43"/>
          </p15:clr>
        </p15:guide>
        <p15:guide id="7" pos="10938" userDrawn="1">
          <p15:clr>
            <a:srgbClr val="F26B43"/>
          </p15:clr>
        </p15:guide>
        <p15:guide id="8" pos="5674" userDrawn="1">
          <p15:clr>
            <a:srgbClr val="F26B43"/>
          </p15:clr>
        </p15:guide>
        <p15:guide id="9" pos="11263" userDrawn="1">
          <p15:clr>
            <a:srgbClr val="F26B43"/>
          </p15:clr>
        </p15:guide>
        <p15:guide id="10" pos="11778" userDrawn="1">
          <p15:clr>
            <a:srgbClr val="F26B43"/>
          </p15:clr>
        </p15:guide>
        <p15:guide id="11" pos="12087" userDrawn="1">
          <p15:clr>
            <a:srgbClr val="F26B43"/>
          </p15:clr>
        </p15:guide>
        <p15:guide id="12" pos="16527" userDrawn="1">
          <p15:clr>
            <a:srgbClr val="F26B43"/>
          </p15:clr>
        </p15:guide>
        <p15:guide id="13" pos="16834" userDrawn="1">
          <p15:clr>
            <a:srgbClr val="F26B43"/>
          </p15:clr>
        </p15:guide>
        <p15:guide id="14" pos="17349" userDrawn="1">
          <p15:clr>
            <a:srgbClr val="F26B43"/>
          </p15:clr>
        </p15:guide>
        <p15:guide id="15" pos="17658" userDrawn="1">
          <p15:clr>
            <a:srgbClr val="F26B43"/>
          </p15:clr>
        </p15:guide>
        <p15:guide id="16" pos="22114" userDrawn="1">
          <p15:clr>
            <a:srgbClr val="F26B43"/>
          </p15:clr>
        </p15:guide>
        <p15:guide id="17" pos="22423" userDrawn="1">
          <p15:clr>
            <a:srgbClr val="F26B43"/>
          </p15:clr>
        </p15:guide>
        <p15:guide id="18" orient="horz" pos="878" userDrawn="1">
          <p15:clr>
            <a:srgbClr val="F26B43"/>
          </p15:clr>
        </p15:guide>
        <p15:guide id="19" orient="horz" pos="3291" userDrawn="1">
          <p15:clr>
            <a:srgbClr val="F26B43"/>
          </p15:clr>
        </p15:guide>
        <p15:guide id="20" orient="horz" pos="3072" userDrawn="1">
          <p15:clr>
            <a:srgbClr val="F26B43"/>
          </p15:clr>
        </p15:guide>
        <p15:guide id="21" orient="horz" pos="3950" userDrawn="1">
          <p15:clr>
            <a:srgbClr val="F26B43"/>
          </p15:clr>
        </p15:guide>
        <p15:guide id="22" orient="horz" pos="4169" userDrawn="1">
          <p15:clr>
            <a:srgbClr val="F26B43"/>
          </p15:clr>
        </p15:guide>
        <p15:guide id="23" orient="horz" pos="17774" userDrawn="1">
          <p15:clr>
            <a:srgbClr val="F26B43"/>
          </p15:clr>
        </p15:guide>
        <p15:guide id="24" orient="horz" pos="1755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37000">
              <a:srgbClr val="D1DCF0"/>
            </a:gs>
            <a:gs pos="0">
              <a:schemeClr val="accent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D99F1-1175-622D-102A-D28A0922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6140A1D-C10B-2E82-8501-927FAEED9A43}"/>
              </a:ext>
            </a:extLst>
          </p:cNvPr>
          <p:cNvSpPr/>
          <p:nvPr/>
        </p:nvSpPr>
        <p:spPr>
          <a:xfrm>
            <a:off x="459334" y="3795376"/>
            <a:ext cx="8685498" cy="8186661"/>
          </a:xfrm>
          <a:prstGeom prst="roundRect">
            <a:avLst>
              <a:gd name="adj" fmla="val 7577"/>
            </a:avLst>
          </a:prstGeom>
          <a:solidFill>
            <a:schemeClr val="bg1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F224A59-14F4-015F-168A-E7F1B45312CF}"/>
              </a:ext>
            </a:extLst>
          </p:cNvPr>
          <p:cNvSpPr/>
          <p:nvPr/>
        </p:nvSpPr>
        <p:spPr>
          <a:xfrm>
            <a:off x="459332" y="12238561"/>
            <a:ext cx="8658081" cy="1893071"/>
          </a:xfrm>
          <a:prstGeom prst="roundRect">
            <a:avLst>
              <a:gd name="adj" fmla="val 15908"/>
            </a:avLst>
          </a:prstGeom>
          <a:solidFill>
            <a:schemeClr val="bg1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ounded Rectangle 30" descr="asdasd">
            <a:extLst>
              <a:ext uri="{FF2B5EF4-FFF2-40B4-BE49-F238E27FC236}">
                <a16:creationId xmlns:a16="http://schemas.microsoft.com/office/drawing/2014/main" id="{3FFEBE6D-D512-A3A7-F6F3-CCF7B743B1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9335" y="14619888"/>
            <a:ext cx="8685497" cy="1327451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9D6DAAB-2EA4-F383-E92F-64A170FBB675}"/>
              </a:ext>
            </a:extLst>
          </p:cNvPr>
          <p:cNvSpPr/>
          <p:nvPr/>
        </p:nvSpPr>
        <p:spPr>
          <a:xfrm>
            <a:off x="9823981" y="3795374"/>
            <a:ext cx="16900262" cy="23797366"/>
          </a:xfrm>
          <a:prstGeom prst="roundRect">
            <a:avLst>
              <a:gd name="adj" fmla="val 2821"/>
            </a:avLst>
          </a:prstGeom>
          <a:solidFill>
            <a:schemeClr val="bg1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solidFill>
                <a:srgbClr val="0A7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886451-7C1E-125B-4B6F-039BF4436316}"/>
              </a:ext>
            </a:extLst>
          </p:cNvPr>
          <p:cNvSpPr/>
          <p:nvPr/>
        </p:nvSpPr>
        <p:spPr>
          <a:xfrm>
            <a:off x="27622736" y="3795376"/>
            <a:ext cx="7918148" cy="14004278"/>
          </a:xfrm>
          <a:prstGeom prst="roundRect">
            <a:avLst>
              <a:gd name="adj" fmla="val 6326"/>
            </a:avLst>
          </a:prstGeom>
          <a:solidFill>
            <a:schemeClr val="bg1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5AC71BB-A519-486D-C41F-98EFEDE9560E}"/>
              </a:ext>
            </a:extLst>
          </p:cNvPr>
          <p:cNvSpPr/>
          <p:nvPr/>
        </p:nvSpPr>
        <p:spPr>
          <a:xfrm>
            <a:off x="27540479" y="18739023"/>
            <a:ext cx="7890731" cy="2544598"/>
          </a:xfrm>
          <a:prstGeom prst="roundRect">
            <a:avLst>
              <a:gd name="adj" fmla="val 11553"/>
            </a:avLst>
          </a:prstGeom>
          <a:solidFill>
            <a:schemeClr val="bg1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A08D234-010F-F41A-ACFE-E4EAF572301D}"/>
              </a:ext>
            </a:extLst>
          </p:cNvPr>
          <p:cNvSpPr/>
          <p:nvPr/>
        </p:nvSpPr>
        <p:spPr>
          <a:xfrm>
            <a:off x="27540478" y="21703774"/>
            <a:ext cx="7918151" cy="6108353"/>
          </a:xfrm>
          <a:prstGeom prst="roundRect">
            <a:avLst>
              <a:gd name="adj" fmla="val 10224"/>
            </a:avLst>
          </a:prstGeom>
          <a:solidFill>
            <a:schemeClr val="bg1"/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ADCADC-313F-792B-9F13-01BB59A5D194}"/>
              </a:ext>
            </a:extLst>
          </p:cNvPr>
          <p:cNvSpPr txBox="1"/>
          <p:nvPr/>
        </p:nvSpPr>
        <p:spPr>
          <a:xfrm>
            <a:off x="27755624" y="19916069"/>
            <a:ext cx="7643659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500">
                <a:latin typeface="Arial"/>
                <a:cs typeface="Arial"/>
              </a:rPr>
              <a:t>Thanks to the </a:t>
            </a:r>
            <a:r>
              <a:rPr lang="en-US" sz="2500">
                <a:ea typeface="+mn-lt"/>
                <a:cs typeface="+mn-lt"/>
              </a:rPr>
              <a:t>Office of Student Engagement and Experiential Learning </a:t>
            </a:r>
            <a:r>
              <a:rPr lang="en-US" sz="2500">
                <a:latin typeface="Arial"/>
                <a:ea typeface="+mn-lt"/>
                <a:cs typeface="Arial"/>
              </a:rPr>
              <a:t>for</a:t>
            </a:r>
            <a:r>
              <a:rPr lang="en-US" sz="2500">
                <a:latin typeface="Arial"/>
                <a:cs typeface="Arial"/>
              </a:rPr>
              <a:t> supporting this work.</a:t>
            </a:r>
            <a:endParaRPr lang="en-US" sz="6200">
              <a:ea typeface="Calibri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0FFD24-E192-EAB3-7470-9EA03CBDBC9B}"/>
              </a:ext>
            </a:extLst>
          </p:cNvPr>
          <p:cNvSpPr txBox="1"/>
          <p:nvPr/>
        </p:nvSpPr>
        <p:spPr>
          <a:xfrm>
            <a:off x="27784516" y="22902813"/>
            <a:ext cx="7424313" cy="50937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500">
                <a:solidFill>
                  <a:srgbClr val="2D3748"/>
                </a:solidFill>
                <a:latin typeface="Arial"/>
                <a:ea typeface="Calibri"/>
                <a:cs typeface="Arial"/>
              </a:rPr>
              <a:t>[1] Pimentel, J.F., et al. "A Large-scale Study about Quality and Reproducibility of </a:t>
            </a:r>
            <a:r>
              <a:rPr lang="en-US" sz="2500" err="1">
                <a:solidFill>
                  <a:srgbClr val="2D3748"/>
                </a:solidFill>
                <a:latin typeface="Arial"/>
                <a:ea typeface="Calibri"/>
                <a:cs typeface="Arial"/>
              </a:rPr>
              <a:t>Jupyter</a:t>
            </a:r>
            <a:r>
              <a:rPr lang="en-US" sz="2500">
                <a:solidFill>
                  <a:srgbClr val="2D3748"/>
                </a:solidFill>
                <a:latin typeface="Arial"/>
                <a:ea typeface="Calibri"/>
                <a:cs typeface="Arial"/>
              </a:rPr>
              <a:t> Notebooks." MSR 2019.</a:t>
            </a:r>
            <a:endParaRPr lang="en-US" sz="2500">
              <a:latin typeface="Arial"/>
              <a:cs typeface="Arial"/>
            </a:endParaRPr>
          </a:p>
          <a:p>
            <a:r>
              <a:rPr lang="en-US" sz="2500">
                <a:solidFill>
                  <a:srgbClr val="2D3748"/>
                </a:solidFill>
                <a:latin typeface="Arial"/>
                <a:ea typeface="Calibri"/>
                <a:cs typeface="Arial"/>
              </a:rPr>
              <a:t>[2] Pimentel, J.F., et al. "Understanding and Improving the Quality and Reproducibility of </a:t>
            </a:r>
            <a:r>
              <a:rPr lang="en-US" sz="2500" err="1">
                <a:solidFill>
                  <a:srgbClr val="2D3748"/>
                </a:solidFill>
                <a:latin typeface="Arial"/>
                <a:ea typeface="Calibri"/>
                <a:cs typeface="Arial"/>
              </a:rPr>
              <a:t>Jupyter</a:t>
            </a:r>
            <a:r>
              <a:rPr lang="en-US" sz="2500">
                <a:solidFill>
                  <a:srgbClr val="2D3748"/>
                </a:solidFill>
                <a:latin typeface="Arial"/>
                <a:ea typeface="Calibri"/>
                <a:cs typeface="Arial"/>
              </a:rPr>
              <a:t> Notebooks." EMSE 2021.</a:t>
            </a:r>
            <a:endParaRPr lang="en-US" sz="2500">
              <a:latin typeface="Arial"/>
              <a:cs typeface="Arial"/>
            </a:endParaRPr>
          </a:p>
          <a:p>
            <a:r>
              <a:rPr lang="en-US" sz="2500">
                <a:solidFill>
                  <a:srgbClr val="2D3748"/>
                </a:solidFill>
                <a:latin typeface="Arial"/>
                <a:ea typeface="Calibri"/>
                <a:cs typeface="Arial"/>
              </a:rPr>
              <a:t>[3] Wang, J., et al. "Assessing and Restoring Reproducibility of </a:t>
            </a:r>
            <a:r>
              <a:rPr lang="en-US" sz="2500" err="1">
                <a:solidFill>
                  <a:srgbClr val="2D3748"/>
                </a:solidFill>
                <a:latin typeface="Arial"/>
                <a:ea typeface="Calibri"/>
                <a:cs typeface="Arial"/>
              </a:rPr>
              <a:t>Jupyter</a:t>
            </a:r>
            <a:r>
              <a:rPr lang="en-US" sz="2500">
                <a:solidFill>
                  <a:srgbClr val="2D3748"/>
                </a:solidFill>
                <a:latin typeface="Arial"/>
                <a:ea typeface="Calibri"/>
                <a:cs typeface="Arial"/>
              </a:rPr>
              <a:t> Notebooks." ASE 2020.</a:t>
            </a:r>
            <a:endParaRPr lang="en-US" sz="2500">
              <a:latin typeface="Arial"/>
              <a:cs typeface="Arial"/>
            </a:endParaRPr>
          </a:p>
          <a:p>
            <a:r>
              <a:rPr lang="en-US" sz="2500">
                <a:solidFill>
                  <a:srgbClr val="2D3748"/>
                </a:solidFill>
                <a:latin typeface="Arial"/>
                <a:ea typeface="Calibri"/>
                <a:cs typeface="Arial"/>
              </a:rPr>
              <a:t>[4] Hossain, A. S. M. S., et al. "Similarity-Based Assessment of Computational Reproducibility in </a:t>
            </a:r>
            <a:r>
              <a:rPr lang="en-US" sz="2500" err="1">
                <a:solidFill>
                  <a:srgbClr val="2D3748"/>
                </a:solidFill>
                <a:latin typeface="Arial"/>
                <a:ea typeface="Calibri"/>
                <a:cs typeface="Arial"/>
              </a:rPr>
              <a:t>Jupyter</a:t>
            </a:r>
            <a:r>
              <a:rPr lang="en-US" sz="2500">
                <a:solidFill>
                  <a:srgbClr val="2D3748"/>
                </a:solidFill>
                <a:latin typeface="Arial"/>
                <a:ea typeface="Calibri"/>
                <a:cs typeface="Arial"/>
              </a:rPr>
              <a:t> Notebooks." ACM REP 2025.</a:t>
            </a:r>
            <a:endParaRPr lang="en-US" sz="2500">
              <a:latin typeface="Arial"/>
              <a:cs typeface="Arial"/>
            </a:endParaRPr>
          </a:p>
          <a:p>
            <a:endParaRPr lang="en-US" sz="2500">
              <a:solidFill>
                <a:srgbClr val="2D3748"/>
              </a:solidFill>
              <a:latin typeface="Arial"/>
              <a:ea typeface="Calibri"/>
              <a:cs typeface="Arial"/>
            </a:endParaRPr>
          </a:p>
          <a:p>
            <a:endParaRPr lang="en-US" sz="2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762FFC-7B5B-508E-FF6F-CCBD18A5B848}"/>
              </a:ext>
            </a:extLst>
          </p:cNvPr>
          <p:cNvSpPr txBox="1"/>
          <p:nvPr/>
        </p:nvSpPr>
        <p:spPr>
          <a:xfrm>
            <a:off x="1665223" y="3916361"/>
            <a:ext cx="6555849" cy="796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BD0BB0-E847-00EF-C4D0-FB3C1DCE663E}"/>
              </a:ext>
            </a:extLst>
          </p:cNvPr>
          <p:cNvSpPr txBox="1"/>
          <p:nvPr/>
        </p:nvSpPr>
        <p:spPr>
          <a:xfrm>
            <a:off x="1366248" y="12243204"/>
            <a:ext cx="683003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Goal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035A7B-092A-7A5C-B9F7-0766E1F27DE0}"/>
              </a:ext>
            </a:extLst>
          </p:cNvPr>
          <p:cNvSpPr txBox="1"/>
          <p:nvPr/>
        </p:nvSpPr>
        <p:spPr>
          <a:xfrm>
            <a:off x="1475921" y="14624532"/>
            <a:ext cx="666552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55676B-B41C-AC17-80A2-C359F2C4683D}"/>
              </a:ext>
            </a:extLst>
          </p:cNvPr>
          <p:cNvSpPr txBox="1"/>
          <p:nvPr/>
        </p:nvSpPr>
        <p:spPr>
          <a:xfrm>
            <a:off x="14838801" y="4101674"/>
            <a:ext cx="7069857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Findings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8E5D13-C154-8749-85F3-3CAC270AA1EA}"/>
              </a:ext>
            </a:extLst>
          </p:cNvPr>
          <p:cNvSpPr txBox="1"/>
          <p:nvPr/>
        </p:nvSpPr>
        <p:spPr>
          <a:xfrm>
            <a:off x="28351944" y="4023583"/>
            <a:ext cx="6558833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and </a:t>
            </a:r>
          </a:p>
          <a:p>
            <a:pPr algn="ctr"/>
            <a:r>
              <a:rPr lang="en-US" sz="4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8055C2-FE5F-803C-0405-E13662C5D79E}"/>
              </a:ext>
            </a:extLst>
          </p:cNvPr>
          <p:cNvSpPr txBox="1"/>
          <p:nvPr/>
        </p:nvSpPr>
        <p:spPr>
          <a:xfrm>
            <a:off x="28154748" y="18962240"/>
            <a:ext cx="655883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0F7237-B1CB-2DE4-B7D7-0ED2EB51B0E2}"/>
              </a:ext>
            </a:extLst>
          </p:cNvPr>
          <p:cNvSpPr txBox="1"/>
          <p:nvPr/>
        </p:nvSpPr>
        <p:spPr>
          <a:xfrm>
            <a:off x="28278047" y="21927803"/>
            <a:ext cx="6558833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A7A7DE9-04C7-C953-4F24-B8C587F2930E}"/>
              </a:ext>
            </a:extLst>
          </p:cNvPr>
          <p:cNvSpPr/>
          <p:nvPr/>
        </p:nvSpPr>
        <p:spPr>
          <a:xfrm>
            <a:off x="1528648" y="1589737"/>
            <a:ext cx="34615438" cy="3810000"/>
          </a:xfrm>
          <a:prstGeom prst="roundRect">
            <a:avLst>
              <a:gd name="adj" fmla="val 11667"/>
            </a:avLst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98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506033-DECD-A3C0-7B28-49420C18D69B}"/>
              </a:ext>
            </a:extLst>
          </p:cNvPr>
          <p:cNvSpPr txBox="1"/>
          <p:nvPr/>
        </p:nvSpPr>
        <p:spPr>
          <a:xfrm>
            <a:off x="948813" y="4591292"/>
            <a:ext cx="7726419" cy="74020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err="1">
                <a:latin typeface="Arial"/>
                <a:cs typeface="Arial"/>
              </a:rPr>
              <a:t>Jupyter</a:t>
            </a:r>
            <a:r>
              <a:rPr lang="en-US" sz="3000">
                <a:latin typeface="Arial"/>
                <a:cs typeface="Arial"/>
              </a:rPr>
              <a:t> Notebooks are web-based computational notebooks used to run code split into cells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>
                <a:latin typeface="Arial"/>
                <a:cs typeface="Arial"/>
              </a:rPr>
              <a:t>In all sciences, reproducibility–the ability to independently achieve the same results–is important in building trust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>
                <a:latin typeface="Arial"/>
                <a:cs typeface="Arial"/>
              </a:rPr>
              <a:t>When a notebook is executed, output is both displayed below the cell of code that produced it and saved in the notebook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>
                <a:latin typeface="Arial"/>
                <a:cs typeface="Arial"/>
              </a:rPr>
              <a:t>There are many factors involved in re-executing a notebook from years ago that may lead to different results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>
                <a:latin typeface="Arial"/>
                <a:cs typeface="Arial"/>
              </a:rPr>
              <a:t>We can compare the saved outputs, but it is not always straightforward to determine if outputs match or are similar.</a:t>
            </a:r>
          </a:p>
          <a:p>
            <a:pPr marL="342900" indent="-342900">
              <a:buFontTx/>
              <a:buChar char="-"/>
            </a:pPr>
            <a:endParaRPr lang="en-US" sz="2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C5DE92E-6803-B77F-0321-8B17B16590FD}"/>
              </a:ext>
            </a:extLst>
          </p:cNvPr>
          <p:cNvSpPr txBox="1"/>
          <p:nvPr/>
        </p:nvSpPr>
        <p:spPr>
          <a:xfrm>
            <a:off x="27679198" y="5440946"/>
            <a:ext cx="7634947" cy="278537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- This project developed an automated system for testing the reproducibility of Jupyter notebook outputs across a variety of Python data types.​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In the cases studied, we are operating under the assumption that all data is available in the outputs, libraries are installed, and </a:t>
            </a:r>
          </a:p>
          <a:p>
            <a:endParaRPr lang="en-US" sz="25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82E60F-7864-70E8-37B2-4D166348C7F7}"/>
              </a:ext>
            </a:extLst>
          </p:cNvPr>
          <p:cNvSpPr txBox="1"/>
          <p:nvPr/>
        </p:nvSpPr>
        <p:spPr>
          <a:xfrm>
            <a:off x="1469762" y="1111547"/>
            <a:ext cx="34602372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8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Evaluating the Reproducibility of Computational Notebooks </a:t>
            </a:r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D4FC81-BDBC-7893-7B3C-0B6FB47345E0}"/>
              </a:ext>
            </a:extLst>
          </p:cNvPr>
          <p:cNvSpPr txBox="1"/>
          <p:nvPr/>
        </p:nvSpPr>
        <p:spPr>
          <a:xfrm>
            <a:off x="901360" y="2418925"/>
            <a:ext cx="22393625" cy="1118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Jakobi McFadden, Sang Pham, David Koop</a:t>
            </a:r>
            <a:br>
              <a:rPr lang="en-US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Science, College of Liberal Arts &amp; Sciences, Northern Illinois University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E111D-6E6C-0D6F-E4D8-1A3FE2979EBA}"/>
              </a:ext>
            </a:extLst>
          </p:cNvPr>
          <p:cNvSpPr txBox="1"/>
          <p:nvPr/>
        </p:nvSpPr>
        <p:spPr>
          <a:xfrm>
            <a:off x="485260" y="13022509"/>
            <a:ext cx="8632153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500" b="1">
                <a:latin typeface="Arial"/>
                <a:cs typeface="Arial"/>
              </a:rPr>
              <a:t>How do we more accurately evaluate the reproducibility of results in computational notebooks?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56344-9B2E-F248-2FA4-18F958EC5684}"/>
              </a:ext>
            </a:extLst>
          </p:cNvPr>
          <p:cNvSpPr txBox="1"/>
          <p:nvPr/>
        </p:nvSpPr>
        <p:spPr>
          <a:xfrm>
            <a:off x="610451" y="15458773"/>
            <a:ext cx="8439320" cy="119109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latin typeface="Arial"/>
                <a:ea typeface="+mn-lt"/>
                <a:cs typeface="Arial"/>
              </a:rPr>
              <a:t>Existing studies of notebook reproducibility ([1],[2],3]) use binary comparison (an exact match is required) to evaluate reproducibility. There is evidence that this may be too stringent in some cases [4].</a:t>
            </a:r>
            <a:endParaRPr lang="en-US" sz="2400">
              <a:latin typeface="Arial"/>
              <a:ea typeface="Calibri" panose="020F0502020204030204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Arial"/>
                <a:ea typeface="+mn-lt"/>
                <a:cs typeface="Arial"/>
              </a:rPr>
              <a:t>We were examined cases where </a:t>
            </a:r>
            <a:r>
              <a:rPr lang="en-US" sz="2400" err="1">
                <a:latin typeface="Arial"/>
                <a:ea typeface="+mn-lt"/>
                <a:cs typeface="Arial"/>
              </a:rPr>
              <a:t>Jupyter</a:t>
            </a:r>
            <a:r>
              <a:rPr lang="en-US" sz="2400">
                <a:latin typeface="Arial"/>
                <a:ea typeface="+mn-lt"/>
                <a:cs typeface="Arial"/>
              </a:rPr>
              <a:t> notebooks had external configuration changes that meant their outputs did not always match upon re-execution.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latin typeface="Arial"/>
                <a:ea typeface="+mn-lt"/>
                <a:cs typeface="Arial"/>
              </a:rPr>
              <a:t>Our framework re-executes the original notebook, capturing fresh outputs for each cell, then compares them against the saved outputs cell by cell</a:t>
            </a:r>
            <a:endParaRPr lang="en-US" sz="2400">
              <a:latin typeface="Arial"/>
              <a:ea typeface="Calibri" panose="020F0502020204030204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latin typeface="Arial"/>
                <a:ea typeface="+mn-lt"/>
                <a:cs typeface="Arial"/>
              </a:rPr>
              <a:t>For basic data types</a:t>
            </a:r>
            <a:r>
              <a:rPr lang="en-US" sz="2400">
                <a:latin typeface="Arial"/>
                <a:ea typeface="+mn-lt"/>
                <a:cs typeface="Arial"/>
              </a:rPr>
              <a:t> (integers, floats, strings, lists), comparison is usually straightforward, outputs are extracted and tested for direct equality, but some rounding errors can be evaluated using </a:t>
            </a:r>
            <a:r>
              <a:rPr lang="en-US" sz="2400" err="1">
                <a:latin typeface="Arial"/>
                <a:ea typeface="+mn-lt"/>
                <a:cs typeface="Arial"/>
              </a:rPr>
              <a:t>isclose</a:t>
            </a:r>
            <a:r>
              <a:rPr lang="en-US" sz="2400">
                <a:latin typeface="Arial"/>
                <a:ea typeface="+mn-lt"/>
                <a:cs typeface="Arial"/>
              </a:rPr>
              <a:t>() checks</a:t>
            </a:r>
          </a:p>
          <a:p>
            <a:pPr marL="342900" indent="-342900">
              <a:buFont typeface="Arial"/>
              <a:buChar char="•"/>
            </a:pPr>
            <a:r>
              <a:rPr lang="en-US" sz="2400" b="1">
                <a:latin typeface="Arial"/>
                <a:ea typeface="+mn-lt"/>
                <a:cs typeface="Arial"/>
              </a:rPr>
              <a:t>For NumPy Arrays: </a:t>
            </a:r>
            <a:r>
              <a:rPr lang="en-US" sz="2400">
                <a:latin typeface="Arial"/>
                <a:ea typeface="+mn-lt"/>
                <a:cs typeface="Arial"/>
              </a:rPr>
              <a:t>Numeric computation differences and output configuration parameters can affect results. We can compare the visible sections.</a:t>
            </a:r>
            <a:r>
              <a:rPr lang="en-US" sz="2400" b="1">
                <a:latin typeface="Arial"/>
                <a:ea typeface="+mn-lt"/>
                <a:cs typeface="Arial"/>
              </a:rPr>
              <a:t> </a:t>
            </a:r>
          </a:p>
          <a:p>
            <a:pPr marL="342900" indent="-342900">
              <a:buFont typeface="Arial"/>
              <a:buChar char="•"/>
            </a:pPr>
            <a:r>
              <a:rPr lang="en-US" sz="2400" b="1">
                <a:latin typeface="Arial"/>
                <a:ea typeface="+mn-lt"/>
                <a:cs typeface="Arial"/>
              </a:rPr>
              <a:t>For Polars </a:t>
            </a:r>
            <a:r>
              <a:rPr lang="en-US" sz="2400" b="1" err="1">
                <a:latin typeface="Arial"/>
                <a:ea typeface="+mn-lt"/>
                <a:cs typeface="Arial"/>
              </a:rPr>
              <a:t>DataFrames</a:t>
            </a:r>
            <a:r>
              <a:rPr lang="en-US" sz="2400" b="1">
                <a:latin typeface="Arial"/>
                <a:ea typeface="+mn-lt"/>
                <a:cs typeface="Arial"/>
              </a:rPr>
              <a:t>:</a:t>
            </a:r>
            <a:endParaRPr lang="en-US" sz="2400">
              <a:latin typeface="Arial"/>
              <a:ea typeface="+mn-lt"/>
              <a:cs typeface="Arial"/>
            </a:endParaRPr>
          </a:p>
          <a:p>
            <a:pPr marL="1028700" lvl="1" indent="-457200">
              <a:buFont typeface="Courier New"/>
              <a:buChar char="o"/>
            </a:pPr>
            <a:r>
              <a:rPr lang="en-US" sz="2400">
                <a:latin typeface="Arial"/>
                <a:ea typeface="+mn-lt"/>
                <a:cs typeface="Arial"/>
              </a:rPr>
              <a:t>We use</a:t>
            </a:r>
            <a:r>
              <a:rPr lang="en-US" sz="2400">
                <a:latin typeface="Courier New"/>
                <a:ea typeface="+mn-lt"/>
                <a:cs typeface="Courier New"/>
              </a:rPr>
              <a:t> </a:t>
            </a:r>
            <a:r>
              <a:rPr lang="en-US" sz="2400" err="1">
                <a:latin typeface="Courier New"/>
                <a:ea typeface="Calibri" panose="020F0502020204030204"/>
                <a:cs typeface="Courier New"/>
              </a:rPr>
              <a:t>pl.from_repr</a:t>
            </a:r>
            <a:r>
              <a:rPr lang="en-US" sz="2400">
                <a:latin typeface="Courier New"/>
                <a:ea typeface="Calibri" panose="020F0502020204030204"/>
                <a:cs typeface="Courier New"/>
              </a:rPr>
              <a:t>()</a:t>
            </a:r>
            <a:r>
              <a:rPr lang="en-US" sz="2400">
                <a:latin typeface="Arial"/>
                <a:ea typeface="+mn-lt"/>
                <a:cs typeface="Arial"/>
              </a:rPr>
              <a:t> to reconstruct the saved </a:t>
            </a:r>
            <a:r>
              <a:rPr lang="en-US" sz="2400" err="1">
                <a:latin typeface="Arial"/>
                <a:ea typeface="+mn-lt"/>
                <a:cs typeface="Arial"/>
              </a:rPr>
              <a:t>DataFrame</a:t>
            </a:r>
            <a:r>
              <a:rPr lang="en-US" sz="2400">
                <a:latin typeface="Arial"/>
                <a:ea typeface="+mn-lt"/>
                <a:cs typeface="Arial"/>
              </a:rPr>
              <a:t> from its text representation, then compare it with the rerun output</a:t>
            </a:r>
            <a:endParaRPr lang="en-US" sz="2400" b="1">
              <a:latin typeface="Arial"/>
              <a:ea typeface="+mn-lt"/>
              <a:cs typeface="Arial"/>
            </a:endParaRPr>
          </a:p>
          <a:p>
            <a:pPr marL="1028700" lvl="1" indent="-457200">
              <a:buFont typeface="Courier New"/>
              <a:buChar char="o"/>
            </a:pPr>
            <a:r>
              <a:rPr lang="en-US" sz="2400">
                <a:latin typeface="Arial"/>
                <a:ea typeface="+mn-lt"/>
                <a:cs typeface="Arial"/>
              </a:rPr>
              <a:t>If </a:t>
            </a:r>
            <a:r>
              <a:rPr lang="en-US" sz="2400" err="1">
                <a:latin typeface="Courier New"/>
                <a:ea typeface="Calibri" panose="020F0502020204030204"/>
                <a:cs typeface="Courier New"/>
              </a:rPr>
              <a:t>from_repr</a:t>
            </a:r>
            <a:r>
              <a:rPr lang="en-US" sz="2400">
                <a:latin typeface="Courier New"/>
                <a:ea typeface="Calibri" panose="020F0502020204030204"/>
                <a:cs typeface="Courier New"/>
              </a:rPr>
              <a:t>()</a:t>
            </a:r>
            <a:r>
              <a:rPr lang="en-US" sz="2400">
                <a:latin typeface="Arial"/>
                <a:ea typeface="+mn-lt"/>
                <a:cs typeface="Arial"/>
              </a:rPr>
              <a:t> fails due to truncated column values, we fall back to </a:t>
            </a:r>
            <a:r>
              <a:rPr lang="en-US" sz="2400" err="1">
                <a:latin typeface="Arial"/>
                <a:ea typeface="+mn-lt"/>
                <a:cs typeface="Arial"/>
              </a:rPr>
              <a:t>BeautifulSoup</a:t>
            </a:r>
            <a:r>
              <a:rPr lang="en-US" sz="2400">
                <a:latin typeface="Arial"/>
                <a:ea typeface="+mn-lt"/>
                <a:cs typeface="Arial"/>
              </a:rPr>
              <a:t> to parse the HTML output and compare shape, columns, and cell values</a:t>
            </a:r>
          </a:p>
          <a:p>
            <a:pPr marL="228600" indent="-228600">
              <a:buFont typeface="Arial"/>
              <a:buChar char="•"/>
            </a:pPr>
            <a:r>
              <a:rPr lang="en-US" sz="2400" b="1">
                <a:latin typeface="Arial"/>
                <a:ea typeface="+mn-lt"/>
                <a:cs typeface="Arial"/>
              </a:rPr>
              <a:t>For Pandas </a:t>
            </a:r>
            <a:r>
              <a:rPr lang="en-US" sz="2400" b="1" err="1">
                <a:latin typeface="Arial"/>
                <a:ea typeface="+mn-lt"/>
                <a:cs typeface="Arial"/>
              </a:rPr>
              <a:t>DataFrames</a:t>
            </a:r>
            <a:r>
              <a:rPr lang="en-US" sz="2400">
                <a:latin typeface="Arial"/>
                <a:ea typeface="+mn-lt"/>
                <a:cs typeface="Arial"/>
              </a:rPr>
              <a:t>: </a:t>
            </a:r>
            <a:endParaRPr lang="en-US" sz="6200">
              <a:latin typeface="Arial"/>
              <a:ea typeface="+mn-lt"/>
              <a:cs typeface="Arial"/>
            </a:endParaRPr>
          </a:p>
          <a:p>
            <a:pPr marL="1143000" lvl="1" indent="-571500">
              <a:buFont typeface="Courier New"/>
              <a:buChar char="o"/>
            </a:pPr>
            <a:r>
              <a:rPr lang="en-US" sz="2400">
                <a:latin typeface="Arial"/>
                <a:ea typeface="+mn-lt"/>
                <a:cs typeface="Arial"/>
              </a:rPr>
              <a:t>We parse the saved Pandas </a:t>
            </a:r>
            <a:r>
              <a:rPr lang="en-US" sz="2400" err="1">
                <a:latin typeface="Arial"/>
                <a:ea typeface="+mn-lt"/>
                <a:cs typeface="Arial"/>
              </a:rPr>
              <a:t>DataFrame</a:t>
            </a:r>
            <a:r>
              <a:rPr lang="en-US" sz="2400">
                <a:latin typeface="Arial"/>
                <a:ea typeface="+mn-lt"/>
                <a:cs typeface="Arial"/>
              </a:rPr>
              <a:t> using </a:t>
            </a:r>
            <a:r>
              <a:rPr lang="en-US" sz="2400" err="1">
                <a:latin typeface="Arial"/>
                <a:ea typeface="+mn-lt"/>
                <a:cs typeface="Arial"/>
              </a:rPr>
              <a:t>read_html</a:t>
            </a:r>
            <a:r>
              <a:rPr lang="en-US" sz="2400">
                <a:latin typeface="Arial"/>
                <a:ea typeface="+mn-lt"/>
                <a:cs typeface="Arial"/>
              </a:rPr>
              <a:t>() to reconstruct the </a:t>
            </a:r>
            <a:r>
              <a:rPr lang="en-US" sz="2400" err="1">
                <a:latin typeface="Arial"/>
                <a:ea typeface="+mn-lt"/>
                <a:cs typeface="Arial"/>
              </a:rPr>
              <a:t>DataFrame</a:t>
            </a:r>
            <a:r>
              <a:rPr lang="en-US" sz="2400">
                <a:latin typeface="Arial"/>
                <a:ea typeface="+mn-lt"/>
                <a:cs typeface="Arial"/>
              </a:rPr>
              <a:t> object, use the .eq() method to compare frame cells and compute a confidence score that indicates their </a:t>
            </a:r>
            <a:r>
              <a:rPr lang="en-US" sz="2400" err="1">
                <a:latin typeface="Arial"/>
                <a:ea typeface="+mn-lt"/>
                <a:cs typeface="Arial"/>
              </a:rPr>
              <a:t>similiarity</a:t>
            </a:r>
            <a:r>
              <a:rPr lang="en-US" sz="2400">
                <a:latin typeface="Arial"/>
                <a:ea typeface="+mn-lt"/>
                <a:cs typeface="Arial"/>
              </a:rPr>
              <a:t> based on visible output. </a:t>
            </a:r>
            <a:endParaRPr lang="en-US" sz="6200">
              <a:latin typeface="Arial"/>
              <a:ea typeface="Calibri" panose="020F0502020204030204"/>
              <a:cs typeface="Arial"/>
            </a:endParaRPr>
          </a:p>
          <a:p>
            <a:pPr marL="342900" indent="-1351280">
              <a:buFont typeface="Arial,Sans-Serif"/>
              <a:buChar char="•"/>
            </a:pPr>
            <a:endParaRPr lang="en-US" sz="2400">
              <a:latin typeface="Arial"/>
              <a:ea typeface="+mn-lt"/>
              <a:cs typeface="Arial"/>
            </a:endParaRPr>
          </a:p>
        </p:txBody>
      </p:sp>
      <p:sp>
        <p:nvSpPr>
          <p:cNvPr id="9" name="TextBox 8"/>
          <p:cNvSpPr txBox="1">
            <a:spLocks noGrp="1"/>
          </p:cNvSpPr>
          <p:nvPr/>
        </p:nvSpPr>
        <p:spPr>
          <a:xfrm>
            <a:off x="10013179" y="4869188"/>
            <a:ext cx="16136404" cy="14000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r>
              <a:rPr lang="en-US" sz="26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Approach</a:t>
            </a:r>
            <a:r>
              <a:rPr lang="en-US" sz="2600" b="1">
                <a:solidFill>
                  <a:srgbClr val="1D4ED8"/>
                </a:solidFill>
                <a:latin typeface="Arial"/>
                <a:cs typeface="Arial"/>
              </a:rPr>
              <a:t> </a:t>
            </a:r>
          </a:p>
          <a:p>
            <a:r>
              <a:rPr lang="en-US" sz="1900">
                <a:latin typeface="Arial"/>
                <a:cs typeface="Arial"/>
              </a:rPr>
              <a:t>We developed and tested techniques for comparing notebook cell outputs. </a:t>
            </a:r>
            <a:r>
              <a:rPr lang="en-US" sz="1900" err="1">
                <a:latin typeface="Arial"/>
                <a:cs typeface="Arial"/>
              </a:rPr>
              <a:t>Jupyter</a:t>
            </a:r>
            <a:r>
              <a:rPr lang="en-US" sz="1900">
                <a:latin typeface="Arial"/>
                <a:cs typeface="Arial"/>
              </a:rPr>
              <a:t> stores each cell output in JSON, tagging it with a MIME type (e.g., text/plain, text/html). Some cell outputs (e.g., </a:t>
            </a:r>
            <a:r>
              <a:rPr lang="en-US" sz="1900" err="1">
                <a:latin typeface="Arial"/>
                <a:cs typeface="Arial"/>
              </a:rPr>
              <a:t>DataFrames</a:t>
            </a:r>
            <a:r>
              <a:rPr lang="en-US" sz="1900">
                <a:latin typeface="Arial"/>
                <a:cs typeface="Arial"/>
              </a:rPr>
              <a:t>) appear as multiple MIME types. The MIME type used determines how we extract and compare the data.</a:t>
            </a:r>
          </a:p>
        </p:txBody>
      </p:sp>
      <p:sp>
        <p:nvSpPr>
          <p:cNvPr id="70" name="TextBox BasicLabel"/>
          <p:cNvSpPr txBox="1">
            <a:spLocks noGrp="1"/>
          </p:cNvSpPr>
          <p:nvPr/>
        </p:nvSpPr>
        <p:spPr>
          <a:xfrm>
            <a:off x="9818805" y="6380889"/>
            <a:ext cx="16136404" cy="5000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r>
              <a:rPr lang="en-US" sz="2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▶  Basic Types — int, float, str, list</a:t>
            </a:r>
          </a:p>
        </p:txBody>
      </p:sp>
      <p:pic>
        <p:nvPicPr>
          <p:cNvPr id="71" name="Picture BasicSideBySi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179" y="6980889"/>
            <a:ext cx="16136404" cy="6823394"/>
          </a:xfrm>
          <a:prstGeom prst="rect">
            <a:avLst/>
          </a:prstGeom>
        </p:spPr>
      </p:pic>
      <p:sp>
        <p:nvSpPr>
          <p:cNvPr id="72" name="TextBox BasicExp"/>
          <p:cNvSpPr txBox="1">
            <a:spLocks noGrp="1"/>
          </p:cNvSpPr>
          <p:nvPr/>
        </p:nvSpPr>
        <p:spPr>
          <a:xfrm>
            <a:off x="10043325" y="13884283"/>
            <a:ext cx="16136404" cy="7800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r>
              <a:rPr lang="en-US" sz="1900" b="1">
                <a:latin typeface="Arial"/>
                <a:cs typeface="Arial"/>
              </a:rPr>
              <a:t>Extraction: </a:t>
            </a:r>
            <a:r>
              <a:rPr lang="en-US" sz="1900">
                <a:solidFill>
                  <a:srgbClr val="7C3AED"/>
                </a:solidFill>
                <a:latin typeface="Arial"/>
                <a:cs typeface="Arial"/>
              </a:rPr>
              <a:t>data["text/plain"] </a:t>
            </a:r>
            <a:r>
              <a:rPr lang="en-US" sz="1900">
                <a:latin typeface="Arial"/>
                <a:cs typeface="Arial"/>
              </a:rPr>
              <a:t>is read directly from each output.</a:t>
            </a:r>
          </a:p>
          <a:p>
            <a:r>
              <a:rPr lang="en-US" sz="1900" b="1">
                <a:latin typeface="Arial"/>
                <a:cs typeface="Arial"/>
              </a:rPr>
              <a:t>Comparison: </a:t>
            </a:r>
            <a:r>
              <a:rPr lang="en-US" sz="1900">
                <a:latin typeface="Arial"/>
                <a:cs typeface="Arial"/>
              </a:rPr>
              <a:t>Straightforward equality check, does the before output == after output. (See basic JSON figure above.)</a:t>
            </a:r>
          </a:p>
        </p:txBody>
      </p:sp>
      <p:sp>
        <p:nvSpPr>
          <p:cNvPr id="73" name="TextBox PolarsLabel"/>
          <p:cNvSpPr txBox="1">
            <a:spLocks noGrp="1"/>
          </p:cNvSpPr>
          <p:nvPr/>
        </p:nvSpPr>
        <p:spPr>
          <a:xfrm>
            <a:off x="9818805" y="14764283"/>
            <a:ext cx="16136404" cy="5000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r>
              <a:rPr lang="en-US" sz="2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▶  Polars DataFrames</a:t>
            </a:r>
          </a:p>
        </p:txBody>
      </p:sp>
      <p:pic>
        <p:nvPicPr>
          <p:cNvPr id="75" name="Picture PolarsJs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1068" y="15522221"/>
            <a:ext cx="16136404" cy="5002285"/>
          </a:xfrm>
          <a:prstGeom prst="rect">
            <a:avLst/>
          </a:prstGeom>
        </p:spPr>
      </p:pic>
      <p:sp>
        <p:nvSpPr>
          <p:cNvPr id="76" name="TextBox PolarsExp"/>
          <p:cNvSpPr txBox="1">
            <a:spLocks noGrp="1"/>
          </p:cNvSpPr>
          <p:nvPr/>
        </p:nvSpPr>
        <p:spPr>
          <a:xfrm>
            <a:off x="10205910" y="20509994"/>
            <a:ext cx="16136404" cy="1017182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r>
              <a:rPr lang="en-US" sz="1900" b="1">
                <a:latin typeface="Arial"/>
                <a:cs typeface="Arial"/>
              </a:rPr>
              <a:t>Primary path: </a:t>
            </a:r>
            <a:r>
              <a:rPr lang="en-US" sz="1900">
                <a:solidFill>
                  <a:srgbClr val="7C3AED"/>
                </a:solidFill>
                <a:latin typeface="Arial"/>
                <a:cs typeface="Arial"/>
              </a:rPr>
              <a:t>pl.from_repr() </a:t>
            </a:r>
            <a:r>
              <a:rPr lang="en-US" sz="1900">
                <a:latin typeface="Arial"/>
                <a:cs typeface="Arial"/>
              </a:rPr>
              <a:t>reconstructs a live DataFrame from text/plain.</a:t>
            </a:r>
          </a:p>
          <a:p>
            <a:r>
              <a:rPr lang="en-US" sz="1900" b="1">
                <a:latin typeface="Arial"/>
                <a:cs typeface="Arial"/>
              </a:rPr>
              <a:t>Fallback: </a:t>
            </a:r>
            <a:r>
              <a:rPr lang="en-US" sz="1900">
                <a:latin typeface="Arial"/>
                <a:cs typeface="Arial"/>
              </a:rPr>
              <a:t>When from_repr fails, BeautifulSoup parses the text/html table.</a:t>
            </a:r>
          </a:p>
          <a:p>
            <a:r>
              <a:rPr lang="en-US" sz="1900" b="1">
                <a:latin typeface="Arial"/>
                <a:cs typeface="Arial"/>
              </a:rPr>
              <a:t>Confidence score: </a:t>
            </a:r>
            <a:r>
              <a:rPr lang="en-US" sz="1900">
                <a:latin typeface="Arial"/>
                <a:cs typeface="Arial"/>
              </a:rPr>
              <a:t>0.2 × shape + 0.8 × (matched cells / total). Handles truncated tables (shown with …).</a:t>
            </a:r>
          </a:p>
        </p:txBody>
      </p:sp>
      <p:sp>
        <p:nvSpPr>
          <p:cNvPr id="77" name="TextBox PandasPh"/>
          <p:cNvSpPr txBox="1">
            <a:spLocks noGrp="1"/>
          </p:cNvSpPr>
          <p:nvPr/>
        </p:nvSpPr>
        <p:spPr>
          <a:xfrm>
            <a:off x="9818805" y="26570217"/>
            <a:ext cx="16136404" cy="6000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endParaRPr lang="en-US" sz="1900" i="1">
              <a:solidFill>
                <a:srgbClr val="9CA3AF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204480-A686-EA18-FD85-D736798E5579}"/>
              </a:ext>
            </a:extLst>
          </p:cNvPr>
          <p:cNvSpPr txBox="1"/>
          <p:nvPr/>
        </p:nvSpPr>
        <p:spPr>
          <a:xfrm>
            <a:off x="10205910" y="21703774"/>
            <a:ext cx="152144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▶  Pandas DataFrames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60C3BD-B4E7-25B0-3749-1463B708AF18}"/>
              </a:ext>
            </a:extLst>
          </p:cNvPr>
          <p:cNvSpPr txBox="1"/>
          <p:nvPr/>
        </p:nvSpPr>
        <p:spPr>
          <a:xfrm>
            <a:off x="10205910" y="22117236"/>
            <a:ext cx="6581536" cy="523220"/>
          </a:xfrm>
          <a:prstGeom prst="rect">
            <a:avLst/>
          </a:prstGeom>
          <a:solidFill>
            <a:srgbClr val="DCFCE7"/>
          </a:solidFill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accent6">
                    <a:lumMod val="50000"/>
                  </a:schemeClr>
                </a:solidFill>
              </a:rPr>
              <a:t>JSON – HTML and plain text representation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F0B716-6910-E399-2C57-797FDA01D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3581" y="22697244"/>
            <a:ext cx="6811326" cy="4296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09598C-2AAB-3487-17B1-70EAC9B1050C}"/>
              </a:ext>
            </a:extLst>
          </p:cNvPr>
          <p:cNvSpPr txBox="1"/>
          <p:nvPr/>
        </p:nvSpPr>
        <p:spPr>
          <a:xfrm>
            <a:off x="17574507" y="23261674"/>
            <a:ext cx="83721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Arial"/>
                <a:cs typeface="Arial"/>
              </a:rPr>
              <a:t>Primary path: </a:t>
            </a:r>
            <a:r>
              <a:rPr lang="en-US" sz="2800" err="1">
                <a:solidFill>
                  <a:srgbClr val="7C3AED"/>
                </a:solidFill>
                <a:latin typeface="Arial"/>
                <a:cs typeface="Arial"/>
              </a:rPr>
              <a:t>pd.read_html</a:t>
            </a:r>
            <a:r>
              <a:rPr lang="en-US" sz="2800">
                <a:solidFill>
                  <a:srgbClr val="7C3AED"/>
                </a:solidFill>
                <a:latin typeface="Arial"/>
                <a:cs typeface="Arial"/>
              </a:rPr>
              <a:t> </a:t>
            </a:r>
            <a:r>
              <a:rPr lang="en-US" sz="2800">
                <a:latin typeface="Arial"/>
                <a:cs typeface="Arial"/>
              </a:rPr>
              <a:t>reconstructs a live DataFrame from text/html.</a:t>
            </a:r>
          </a:p>
          <a:p>
            <a:r>
              <a:rPr lang="en-US" sz="2800" b="1">
                <a:latin typeface="Arial"/>
                <a:cs typeface="Arial"/>
              </a:rPr>
              <a:t>Confidence score: </a:t>
            </a:r>
            <a:r>
              <a:rPr lang="en-US" sz="2800">
                <a:latin typeface="Arial"/>
                <a:cs typeface="Arial"/>
              </a:rPr>
              <a:t>How many trues and </a:t>
            </a:r>
            <a:r>
              <a:rPr lang="en-US" sz="2800" err="1">
                <a:latin typeface="Arial"/>
                <a:cs typeface="Arial"/>
              </a:rPr>
              <a:t>falses</a:t>
            </a:r>
            <a:r>
              <a:rPr lang="en-US" sz="2800">
                <a:latin typeface="Arial"/>
                <a:cs typeface="Arial"/>
              </a:rPr>
              <a:t> are found in our .eq table, 1 being true and any other value being less than 1 shows how close the two DataFrames are to being true.</a:t>
            </a:r>
          </a:p>
        </p:txBody>
      </p:sp>
    </p:spTree>
    <p:extLst>
      <p:ext uri="{BB962C8B-B14F-4D97-AF65-F5344CB8AC3E}">
        <p14:creationId xmlns:p14="http://schemas.microsoft.com/office/powerpoint/2010/main" val="20658274"/>
      </p:ext>
    </p:extLst>
  </p:cSld>
  <p:clrMapOvr>
    <a:masterClrMapping/>
  </p:clrMapOvr>
</p:sld>
</file>

<file path=ppt/theme/theme1.xml><?xml version="1.0" encoding="utf-8"?>
<a:theme xmlns:a="http://schemas.openxmlformats.org/drawingml/2006/main" name="2_FOUR COLUMN - 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4D54D9900DD45A3E392D0F93A0281" ma:contentTypeVersion="13" ma:contentTypeDescription="Create a new document." ma:contentTypeScope="" ma:versionID="b8e307812e8a532fb2780929bd83a90d">
  <xsd:schema xmlns:xsd="http://www.w3.org/2001/XMLSchema" xmlns:xs="http://www.w3.org/2001/XMLSchema" xmlns:p="http://schemas.microsoft.com/office/2006/metadata/properties" xmlns:ns3="75d82dfd-20c7-49f6-8920-f148b04b15f3" xmlns:ns4="8e973077-1d13-47d3-9659-1d9ea9ff9c53" targetNamespace="http://schemas.microsoft.com/office/2006/metadata/properties" ma:root="true" ma:fieldsID="2d75f0e7b59753aa585e6703fa061242" ns3:_="" ns4:_="">
    <xsd:import namespace="75d82dfd-20c7-49f6-8920-f148b04b15f3"/>
    <xsd:import namespace="8e973077-1d13-47d3-9659-1d9ea9ff9c5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d82dfd-20c7-49f6-8920-f148b04b15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73077-1d13-47d3-9659-1d9ea9ff9c5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d82dfd-20c7-49f6-8920-f148b04b15f3" xsi:nil="true"/>
  </documentManagement>
</p:properties>
</file>

<file path=customXml/itemProps1.xml><?xml version="1.0" encoding="utf-8"?>
<ds:datastoreItem xmlns:ds="http://schemas.openxmlformats.org/officeDocument/2006/customXml" ds:itemID="{46B1DEE0-E37F-4A47-8FFE-4507D9FBC6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F380C9-8A6D-496A-AA41-B7E0773CD356}">
  <ds:schemaRefs>
    <ds:schemaRef ds:uri="75d82dfd-20c7-49f6-8920-f148b04b15f3"/>
    <ds:schemaRef ds:uri="8e973077-1d13-47d3-9659-1d9ea9ff9c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EA9CBA3-70C6-4FFF-95B3-D7AC75EC57BC}">
  <ds:schemaRefs>
    <ds:schemaRef ds:uri="75d82dfd-20c7-49f6-8920-f148b04b15f3"/>
    <ds:schemaRef ds:uri="8e973077-1d13-47d3-9659-1d9ea9ff9c5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2_FOUR COLUMN - 1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Luecke, Jenna C</dc:creator>
  <cp:revision>5</cp:revision>
  <cp:lastPrinted>2018-10-04T13:58:04Z</cp:lastPrinted>
  <dcterms:created xsi:type="dcterms:W3CDTF">2018-05-04T16:01:53Z</dcterms:created>
  <dcterms:modified xsi:type="dcterms:W3CDTF">2026-04-16T18:52:48Z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0x010100D4A4D54D9900DD45A3E392D0F93A0281</vt:lpwstr>
  </property>
</Properties>
</file>